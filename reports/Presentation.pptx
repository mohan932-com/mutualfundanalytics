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MUTUAL FUND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Capstone Project I |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From raw investment data to actionable insights</a:t>
            </a:r>
          </a:p>
          <a:p>
            <a:pPr algn="ctr">
              <a:defRPr sz="1800"/>
            </a:pPr>
            <a:r>
              <a:t>ETL • EDA • Performance • Risk • Investor Analytics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Build an end-to-end mutual fund analytics workflow.</a:t>
            </a:r>
          </a:p>
          <a:p>
            <a:pPr>
              <a:spcAft>
                <a:spcPts val="1000"/>
              </a:spcAft>
              <a:defRPr sz="2000"/>
            </a:pPr>
            <a:r>
              <a:t>Compare fund returns, risk-adjusted performance and downside risk.</a:t>
            </a:r>
          </a:p>
          <a:p>
            <a:pPr>
              <a:spcAft>
                <a:spcPts val="1000"/>
              </a:spcAft>
              <a:defRPr sz="2000"/>
            </a:pPr>
            <a:r>
              <a:t>Understand investor transactions and SIP behavior.</a:t>
            </a:r>
          </a:p>
          <a:p>
            <a:pPr>
              <a:spcAft>
                <a:spcPts val="1000"/>
              </a:spcAft>
              <a:defRPr sz="2000"/>
            </a:pPr>
            <a:r>
              <a:t>Create explainable advanced analytics and a risk-based recommender.</a:t>
            </a:r>
          </a:p>
          <a:p>
            <a:pPr>
              <a:spcAft>
                <a:spcPts val="1000"/>
              </a:spcAft>
              <a:defRPr sz="2000"/>
            </a:pPr>
            <a:r>
              <a:t>Deliver an interactive four-page Power BI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Data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40 mutual fund schemes in the scheme master and performance dataset.</a:t>
            </a:r>
          </a:p>
          <a:p>
            <a:pPr>
              <a:spcAft>
                <a:spcPts val="1000"/>
              </a:spcAft>
              <a:defRPr sz="1900"/>
            </a:pPr>
            <a:r>
              <a:t>64,320 historical NAV observations.</a:t>
            </a:r>
          </a:p>
          <a:p>
            <a:pPr>
              <a:spcAft>
                <a:spcPts val="1000"/>
              </a:spcAft>
              <a:defRPr sz="1900"/>
            </a:pPr>
            <a:r>
              <a:t>32,778 investor transaction records.</a:t>
            </a:r>
          </a:p>
          <a:p>
            <a:pPr>
              <a:spcAft>
                <a:spcPts val="1000"/>
              </a:spcAft>
              <a:defRPr sz="1900"/>
            </a:pPr>
            <a:r>
              <a:t>322 portfolio holding records.</a:t>
            </a:r>
          </a:p>
          <a:p>
            <a:pPr>
              <a:spcAft>
                <a:spcPts val="1000"/>
              </a:spcAft>
              <a:defRPr sz="1900"/>
            </a:pPr>
            <a:r>
              <a:t>Additional datasets cover AUM, SIP inflows, category inflows, folios and benchmark indices.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Executive Dashboard</a:t>
            </a:r>
          </a:p>
        </p:txBody>
      </p:sp>
      <p:pic>
        <p:nvPicPr>
          <p:cNvPr id="3" name="Picture 2" descr="55a15e10-fbd4-42ae-bc57-e41acd3f40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9047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172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Executive Overview: AUM, fund count, return, expense ratio and trend 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Fund Performance</a:t>
            </a:r>
          </a:p>
        </p:txBody>
      </p:sp>
      <p:pic>
        <p:nvPicPr>
          <p:cNvPr id="3" name="Picture 2" descr="top_shar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2693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630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Average 1-year return: 14.38%.</a:t>
            </a:r>
          </a:p>
          <a:p>
            <a:pPr>
              <a:spcAft>
                <a:spcPts val="1000"/>
              </a:spcAft>
              <a:defRPr sz="1600"/>
            </a:pPr>
            <a:r>
              <a:t>Average expense ratio: 1.24%.</a:t>
            </a:r>
          </a:p>
          <a:p>
            <a:pPr>
              <a:spcAft>
                <a:spcPts val="1000"/>
              </a:spcAft>
              <a:defRPr sz="1600"/>
            </a:pPr>
            <a:r>
              <a:t>Highest Sharpe: ICICI Pru Liquid Fund - Regular - Growth at 7.68.</a:t>
            </a:r>
          </a:p>
          <a:p>
            <a:pPr>
              <a:spcAft>
                <a:spcPts val="1000"/>
              </a:spcAft>
              <a:defRPr sz="1600"/>
            </a:pPr>
            <a:r>
              <a:t>Fund House, Category, Plan and Risk Grade filters support interactive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Downside Risk: VaR &amp; CVaR</a:t>
            </a:r>
          </a:p>
        </p:txBody>
      </p:sp>
      <p:pic>
        <p:nvPicPr>
          <p:cNvPr id="3" name="Picture 2" descr="var_c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315200" cy="38517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09560" y="14173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95% historical VaR uses the 5th percentile of daily returns.</a:t>
            </a:r>
          </a:p>
          <a:p>
            <a:pPr>
              <a:spcAft>
                <a:spcPts val="1000"/>
              </a:spcAft>
              <a:defRPr sz="1400"/>
            </a:pPr>
            <a:r>
              <a:t>CVaR averages returns in the tail beyond the VaR threshold.</a:t>
            </a:r>
          </a:p>
          <a:p>
            <a:pPr>
              <a:spcAft>
                <a:spcPts val="1000"/>
              </a:spcAft>
              <a:defRPr sz="1400"/>
            </a:pPr>
            <a:r>
              <a:t>Highest downside risk: SBI Small Cap Fund - Direct Plan - Growth.</a:t>
            </a:r>
          </a:p>
          <a:p>
            <a:pPr>
              <a:spcAft>
                <a:spcPts val="1000"/>
              </a:spcAft>
              <a:defRPr sz="1400"/>
            </a:pPr>
            <a:r>
              <a:t>VaR: -2.69% | CVaR: -3.24%.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Advanced Analytics</a:t>
            </a:r>
          </a:p>
        </p:txBody>
      </p:sp>
      <p:pic>
        <p:nvPicPr>
          <p:cNvPr id="3" name="Picture 2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315200" cy="36397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17320"/>
            <a:ext cx="3657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Rolling 90-day Sharpe for five key funds.</a:t>
            </a:r>
          </a:p>
          <a:p>
            <a:pPr>
              <a:spcAft>
                <a:spcPts val="1000"/>
              </a:spcAft>
              <a:defRPr sz="1400"/>
            </a:pPr>
            <a:r>
              <a:t>Investor cohort analysis.</a:t>
            </a:r>
          </a:p>
          <a:p>
            <a:pPr>
              <a:spcAft>
                <a:spcPts val="1000"/>
              </a:spcAft>
              <a:defRPr sz="1400"/>
            </a:pPr>
            <a:r>
              <a:t>SIP continuity and at-risk identification.</a:t>
            </a:r>
          </a:p>
          <a:p>
            <a:pPr>
              <a:spcAft>
                <a:spcPts val="1000"/>
              </a:spcAft>
              <a:defRPr sz="1400"/>
            </a:pPr>
            <a:r>
              <a:t>Sector HHI concentration.</a:t>
            </a:r>
          </a:p>
          <a:p>
            <a:pPr>
              <a:spcAft>
                <a:spcPts val="1000"/>
              </a:spcAft>
              <a:defRPr sz="1400"/>
            </a:pPr>
            <a:r>
              <a:t>Risk-appetite fund recommender.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Investor &amp; SIP Insights</a:t>
            </a:r>
          </a:p>
        </p:txBody>
      </p:sp>
      <p:pic>
        <p:nvPicPr>
          <p:cNvPr id="3" name="Picture 2" descr="cohort_inves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5486400" cy="2694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5087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Largest SIP cohort: 2024.</a:t>
            </a:r>
          </a:p>
          <a:p>
            <a:pPr>
              <a:spcAft>
                <a:spcPts val="1000"/>
              </a:spcAft>
              <a:defRPr sz="1500"/>
            </a:pPr>
            <a:r>
              <a:t>Total invested: ₹225.81 crore.</a:t>
            </a:r>
          </a:p>
          <a:p>
            <a:pPr>
              <a:spcAft>
                <a:spcPts val="1000"/>
              </a:spcAft>
              <a:defRPr sz="1500"/>
            </a:pPr>
            <a:r>
              <a:t>Average SIP amount: ₹10,997.</a:t>
            </a:r>
          </a:p>
          <a:p>
            <a:pPr>
              <a:spcAft>
                <a:spcPts val="1000"/>
              </a:spcAft>
              <a:defRPr sz="1500"/>
            </a:pPr>
            <a:r>
              <a:t>At-risk rate under the &gt;35-day gap rule: 99.9%.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Concentration &amp; Recommendation</a:t>
            </a:r>
          </a:p>
        </p:txBody>
      </p:sp>
      <p:pic>
        <p:nvPicPr>
          <p:cNvPr id="3" name="Picture 2" descr="h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583680" cy="32322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4173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Highest sector HHI: Axis Bluechip Fund - Regular - Growth.</a:t>
            </a:r>
          </a:p>
          <a:p>
            <a:pPr>
              <a:spcAft>
                <a:spcPts val="1000"/>
              </a:spcAft>
              <a:defRPr sz="1400"/>
            </a:pPr>
            <a:r>
              <a:t>HHI: 2968 on the 0–10,000 scale.</a:t>
            </a:r>
          </a:p>
          <a:p>
            <a:pPr>
              <a:spcAft>
                <a:spcPts val="1000"/>
              </a:spcAft>
              <a:defRPr sz="1400"/>
            </a:pPr>
            <a:r>
              <a:t>Recommender accepts Low, Moderate or High risk appetite.</a:t>
            </a:r>
          </a:p>
          <a:p>
            <a:pPr>
              <a:spcAft>
                <a:spcPts val="1000"/>
              </a:spcAft>
              <a:defRPr sz="1400"/>
            </a:pPr>
            <a:r>
              <a:t>Matching funds are ranked by Sharpe ratio.</a:t>
            </a:r>
          </a:p>
          <a:p>
            <a:pPr>
              <a:spcAft>
                <a:spcPts val="1000"/>
              </a:spcAft>
              <a:defRPr sz="1400"/>
            </a:pPr>
            <a:r>
              <a:t>Top 3 funds are returned for the selected risk grade.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ICICI Pru Liquid Fund - Regular - Growth leads the performance scorecard by Sharpe ratio (7.68).</a:t>
            </a:r>
          </a:p>
          <a:p>
            <a:pPr>
              <a:spcAft>
                <a:spcPts val="1000"/>
              </a:spcAft>
              <a:defRPr sz="1800"/>
            </a:pPr>
            <a:r>
              <a:t>SBI Small Cap Fund - Direct Plan - Growth shows the highest historical downside risk (VaR -2.69%).</a:t>
            </a:r>
          </a:p>
          <a:p>
            <a:pPr>
              <a:spcAft>
                <a:spcPts val="1000"/>
              </a:spcAft>
              <a:defRPr sz="1800"/>
            </a:pPr>
            <a:r>
              <a:t>The 2024 cohort has the largest reported SIP investment.</a:t>
            </a:r>
          </a:p>
          <a:p>
            <a:pPr>
              <a:spcAft>
                <a:spcPts val="1000"/>
              </a:spcAft>
              <a:defRPr sz="1800"/>
            </a:pPr>
            <a:r>
              <a:t>99.9% of eligible investors are flagged at-risk under the project's continuity rule.</a:t>
            </a:r>
          </a:p>
          <a:p>
            <a:pPr>
              <a:spcAft>
                <a:spcPts val="1000"/>
              </a:spcAft>
              <a:defRPr sz="1800"/>
            </a:pPr>
            <a:r>
              <a:t>Axis Bluechip Fund - Regular - Growth has the highest sector concentration HHI.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project connects data engineering, analytics and business reporting in one workflow.</a:t>
            </a:r>
          </a:p>
          <a:p>
            <a:pPr>
              <a:spcAft>
                <a:spcPts val="1000"/>
              </a:spcAft>
              <a:defRPr sz="1900"/>
            </a:pPr>
            <a:r>
              <a:t>Risk-adjusted measures add context beyond raw return comparisons.</a:t>
            </a:r>
          </a:p>
          <a:p>
            <a:pPr>
              <a:spcAft>
                <a:spcPts val="1000"/>
              </a:spcAft>
              <a:defRPr sz="1900"/>
            </a:pPr>
            <a:r>
              <a:t>The dashboard makes fund, investor and SIP insights easier to explore.</a:t>
            </a:r>
          </a:p>
          <a:p>
            <a:pPr>
              <a:spcAft>
                <a:spcPts val="1000"/>
              </a:spcAft>
              <a:defRPr sz="1900"/>
            </a:pPr>
            <a:r>
              <a:t>Future extensions: live NAV refresh, Monte Carlo simulation, portfolio optimization and automated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